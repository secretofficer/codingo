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image" Target="../media/image-1-5.png"/><Relationship Id="rId6" Type="http://schemas.openxmlformats.org/officeDocument/2006/relationships/image" Target="../media/image-1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image" Target="../media/image-2-5.png"/><Relationship Id="rId6" Type="http://schemas.openxmlformats.org/officeDocument/2006/relationships/image" Target="../media/image-2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g"/><Relationship Id="rId5" Type="http://schemas.openxmlformats.org/officeDocument/2006/relationships/image" Target="../media/image-3-5.png"/><Relationship Id="rId6" Type="http://schemas.openxmlformats.org/officeDocument/2006/relationships/image" Target="../media/image-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g"/><Relationship Id="rId5" Type="http://schemas.openxmlformats.org/officeDocument/2006/relationships/image" Target="../media/image-4-5.png"/><Relationship Id="rId6" Type="http://schemas.openxmlformats.org/officeDocument/2006/relationships/image" Target="../media/image-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g"/><Relationship Id="rId5" Type="http://schemas.openxmlformats.org/officeDocument/2006/relationships/image" Target="../media/image-5-5.png"/><Relationship Id="rId6" Type="http://schemas.openxmlformats.org/officeDocument/2006/relationships/image" Target="../media/image-5-6.jpg"/><Relationship Id="rId7" Type="http://schemas.openxmlformats.org/officeDocument/2006/relationships/image" Target="../media/image-5-7.jpe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jpg"/><Relationship Id="rId5" Type="http://schemas.openxmlformats.org/officeDocument/2006/relationships/image" Target="../media/image-6-5.png"/><Relationship Id="rId6" Type="http://schemas.openxmlformats.org/officeDocument/2006/relationships/image" Target="../media/image-6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g"/><Relationship Id="rId5" Type="http://schemas.openxmlformats.org/officeDocument/2006/relationships/image" Target="../media/image-7-5.png"/><Relationship Id="rId6" Type="http://schemas.openxmlformats.org/officeDocument/2006/relationships/image" Target="../media/image-7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jpg"/><Relationship Id="rId5" Type="http://schemas.openxmlformats.org/officeDocument/2006/relationships/image" Target="../media/image-8-5.png"/><Relationship Id="rId6" Type="http://schemas.openxmlformats.org/officeDocument/2006/relationships/image" Target="../media/image-8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jpg"/><Relationship Id="rId5" Type="http://schemas.openxmlformats.org/officeDocument/2006/relationships/image" Target="../media/image-9-5.png"/><Relationship Id="rId6" Type="http://schemas.openxmlformats.org/officeDocument/2006/relationships/image" Target="../media/image-9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jpg"/><Relationship Id="rId5" Type="http://schemas.openxmlformats.org/officeDocument/2006/relationships/image" Target="../media/image-10-5.png"/><Relationship Id="rId6" Type="http://schemas.openxmlformats.org/officeDocument/2006/relationships/image" Target="../media/image-10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termark_building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1965960"/>
            <a:ext cx="12191695" cy="4892040"/>
          </a:xfrm>
          <a:prstGeom prst="rect">
            <a:avLst/>
          </a:prstGeom>
        </p:spPr>
      </p:pic>
      <p:pic>
        <p:nvPicPr>
          <p:cNvPr id="3" name="Image 1" descr="/home/claude/assets/logo_i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2148840" cy="932688"/>
          </a:xfrm>
          <a:prstGeom prst="rect">
            <a:avLst/>
          </a:prstGeom>
        </p:spPr>
      </p:pic>
      <p:pic>
        <p:nvPicPr>
          <p:cNvPr id="4" name="Image 2" descr="/home/claude/assets/logo_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6304"/>
            <a:ext cx="2697480" cy="726948"/>
          </a:xfrm>
          <a:prstGeom prst="rect">
            <a:avLst/>
          </a:prstGeom>
        </p:spPr>
      </p:pic>
      <p:pic>
        <p:nvPicPr>
          <p:cNvPr id="5" name="Image 3" descr="/home/claude/assets/logo_ed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73736"/>
            <a:ext cx="1051560" cy="845820"/>
          </a:xfrm>
          <a:prstGeom prst="rect">
            <a:avLst/>
          </a:prstGeom>
        </p:spPr>
      </p:pic>
      <p:pic>
        <p:nvPicPr>
          <p:cNvPr id="6" name="Image 4" descr="/home/claude/assets/logo_ipr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137160"/>
            <a:ext cx="86868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0" y="105156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INNOHACK 2.0</a:t>
            </a:r>
            <a:endParaRPr lang="en-US" sz="2600" dirty="0"/>
          </a:p>
        </p:txBody>
      </p:sp>
      <p:sp>
        <p:nvSpPr>
          <p:cNvPr id="8" name="Text 1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PAGE</a:t>
            </a:r>
            <a:endParaRPr lang="en-US" sz="2400" dirty="0"/>
          </a:p>
        </p:txBody>
      </p:sp>
      <p:pic>
        <p:nvPicPr>
          <p:cNvPr id="9" name="Image 5" descr="/home/claude/assets/footer_ic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528816"/>
            <a:ext cx="7589520" cy="3108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2331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NAME HERE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457200" y="2624328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Digi-Tech</a:t>
            </a:r>
            <a:endParaRPr lang="en-US" sz="1400" dirty="0"/>
          </a:p>
        </p:txBody>
      </p:sp>
      <p:sp>
        <p:nvSpPr>
          <p:cNvPr id="12" name="Text 4"/>
          <p:cNvSpPr/>
          <p:nvPr/>
        </p:nvSpPr>
        <p:spPr>
          <a:xfrm>
            <a:off x="457200" y="3081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457200" y="3374136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E-Learning Platform for STEM and Coding Education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457200" y="378561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HERE</a:t>
            </a:r>
            <a:endParaRPr lang="en-US" sz="1400" dirty="0"/>
          </a:p>
        </p:txBody>
      </p:sp>
      <p:sp>
        <p:nvSpPr>
          <p:cNvPr id="15" name="Text 7"/>
          <p:cNvSpPr/>
          <p:nvPr/>
        </p:nvSpPr>
        <p:spPr>
          <a:xfrm>
            <a:off x="457200" y="4078224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Cockroach Tech Team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457200" y="4535424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MEMBER'S NAME WITH REGISTRATION NUMBER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457200" y="4828032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Sakcham Pasari  —  25BCE2257</a:t>
            </a:r>
            <a:endParaRPr lang="en-US" sz="1400" dirty="0"/>
          </a:p>
          <a:p>
            <a:pPr indent="0" marL="0">
              <a:lnSpc>
                <a:spcPct val="102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Daksh Sabarwal  —  25BCE2318</a:t>
            </a:r>
            <a:endParaRPr lang="en-US" sz="1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Suvansh Choudhary  —  25BAI0252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termark_building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1965960"/>
            <a:ext cx="12191695" cy="4892040"/>
          </a:xfrm>
          <a:prstGeom prst="rect">
            <a:avLst/>
          </a:prstGeom>
        </p:spPr>
      </p:pic>
      <p:pic>
        <p:nvPicPr>
          <p:cNvPr id="3" name="Image 1" descr="/home/claude/assets/logo_i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2148840" cy="932688"/>
          </a:xfrm>
          <a:prstGeom prst="rect">
            <a:avLst/>
          </a:prstGeom>
        </p:spPr>
      </p:pic>
      <p:pic>
        <p:nvPicPr>
          <p:cNvPr id="4" name="Image 2" descr="/home/claude/assets/logo_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6304"/>
            <a:ext cx="2697480" cy="726948"/>
          </a:xfrm>
          <a:prstGeom prst="rect">
            <a:avLst/>
          </a:prstGeom>
        </p:spPr>
      </p:pic>
      <p:pic>
        <p:nvPicPr>
          <p:cNvPr id="5" name="Image 3" descr="/home/claude/assets/logo_ed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73736"/>
            <a:ext cx="1051560" cy="845820"/>
          </a:xfrm>
          <a:prstGeom prst="rect">
            <a:avLst/>
          </a:prstGeom>
        </p:spPr>
      </p:pic>
      <p:pic>
        <p:nvPicPr>
          <p:cNvPr id="6" name="Image 4" descr="/home/claude/assets/logo_ipr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137160"/>
            <a:ext cx="86868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0" y="105156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INNOHACK 2.0</a:t>
            </a:r>
            <a:endParaRPr lang="en-US" sz="2600" dirty="0"/>
          </a:p>
        </p:txBody>
      </p:sp>
      <p:sp>
        <p:nvSpPr>
          <p:cNvPr id="8" name="Text 1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pic>
        <p:nvPicPr>
          <p:cNvPr id="9" name="Image 5" descr="/home/claude/assets/footer_ic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528816"/>
            <a:ext cx="7589520" cy="3108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YOUR PROBLEM STATEMENT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457200" y="257860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gamified e-learning platform that teaches STEM and coding concepts through interactive gameplay for school and college students.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Students cannot consistently commit to learning coding and give up midway — especially in self-paced environments where there is no accountability, no competition, and no visible progress.</a:t>
            </a:r>
            <a:endParaRPr lang="en-US" sz="1100" dirty="0"/>
          </a:p>
        </p:txBody>
      </p:sp>
      <p:sp>
        <p:nvSpPr>
          <p:cNvPr id="12" name="Text 4"/>
          <p:cNvSpPr/>
          <p:nvPr/>
        </p:nvSpPr>
        <p:spPr>
          <a:xfrm>
            <a:off x="457200" y="3429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/ RELEVANCE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457200" y="3721608"/>
            <a:ext cx="112471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coding courses are linear, passive, and isolating — no real-time feedback loop.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lack a measurable sense of achievement or peer comparison.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between “learning” and “applying” knowledge is never bridged in conventional EdTech.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platforms like LeetCode are too intimidating for beginners with no guided progression.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affected: school students (grades 8–12), college CS students struggling with DSA, and career switchers needing structured, competitive learning.</a:t>
            </a:r>
            <a:endParaRPr lang="en-US" sz="1100" dirty="0"/>
          </a:p>
        </p:txBody>
      </p:sp>
      <p:sp>
        <p:nvSpPr>
          <p:cNvPr id="14" name="Text 6"/>
          <p:cNvSpPr/>
          <p:nvPr/>
        </p:nvSpPr>
        <p:spPr>
          <a:xfrm>
            <a:off x="457200" y="51846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(OPTIONAL) SUPPORTING STATISTIC EXAMPLES</a:t>
            </a:r>
            <a:endParaRPr lang="en-US" sz="1400" dirty="0"/>
          </a:p>
        </p:txBody>
      </p:sp>
      <p:sp>
        <p:nvSpPr>
          <p:cNvPr id="15" name="Text 7"/>
          <p:cNvSpPr/>
          <p:nvPr/>
        </p:nvSpPr>
        <p:spPr>
          <a:xfrm>
            <a:off x="457200" y="5477256"/>
            <a:ext cx="112471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85–95% of self-paced online learners quit DSA courses midway — Industry research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40–70% dropout/failure rate in university-level DSA courses — Academic studies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~6% of online course enrollees ever reach completion — MOOCs aggregate data</a:t>
            </a:r>
            <a:endParaRPr lang="en-US" sz="11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Gamified learning increases engagement by up to 60% and retention by 40% — Gamification research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termark_building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1965960"/>
            <a:ext cx="12191695" cy="4892040"/>
          </a:xfrm>
          <a:prstGeom prst="rect">
            <a:avLst/>
          </a:prstGeom>
        </p:spPr>
      </p:pic>
      <p:pic>
        <p:nvPicPr>
          <p:cNvPr id="3" name="Image 1" descr="/home/claude/assets/logo_i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2148840" cy="932688"/>
          </a:xfrm>
          <a:prstGeom prst="rect">
            <a:avLst/>
          </a:prstGeom>
        </p:spPr>
      </p:pic>
      <p:pic>
        <p:nvPicPr>
          <p:cNvPr id="4" name="Image 2" descr="/home/claude/assets/logo_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6304"/>
            <a:ext cx="2697480" cy="726948"/>
          </a:xfrm>
          <a:prstGeom prst="rect">
            <a:avLst/>
          </a:prstGeom>
        </p:spPr>
      </p:pic>
      <p:pic>
        <p:nvPicPr>
          <p:cNvPr id="5" name="Image 3" descr="/home/claude/assets/logo_ed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73736"/>
            <a:ext cx="1051560" cy="845820"/>
          </a:xfrm>
          <a:prstGeom prst="rect">
            <a:avLst/>
          </a:prstGeom>
        </p:spPr>
      </p:pic>
      <p:pic>
        <p:nvPicPr>
          <p:cNvPr id="6" name="Image 4" descr="/home/claude/assets/logo_ipr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137160"/>
            <a:ext cx="86868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0" y="105156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INNOHACK 2.0</a:t>
            </a:r>
            <a:endParaRPr lang="en-US" sz="2600" dirty="0"/>
          </a:p>
        </p:txBody>
      </p:sp>
      <p:sp>
        <p:nvSpPr>
          <p:cNvPr id="8" name="Text 1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400" dirty="0"/>
          </a:p>
        </p:txBody>
      </p:sp>
      <p:pic>
        <p:nvPicPr>
          <p:cNvPr id="9" name="Image 5" descr="/home/claude/assets/footer_ic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528816"/>
            <a:ext cx="7589520" cy="3108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YOUR IDEA / SOLUTION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457200" y="257860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Codingo — a desktop e-learning application that turns coding education into a competitive game, complete with ranked battles, skill-based matchmaking, levelled progression maps, and a live leaderboard.</a:t>
            </a:r>
            <a:endParaRPr lang="en-US" sz="1150" dirty="0"/>
          </a:p>
        </p:txBody>
      </p:sp>
      <p:sp>
        <p:nvSpPr>
          <p:cNvPr id="12" name="Text 4"/>
          <p:cNvSpPr/>
          <p:nvPr/>
        </p:nvSpPr>
        <p:spPr>
          <a:xfrm>
            <a:off x="457200" y="32461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IT SOLVE THE PROBLEM?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457200" y="3538728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video lessons → Interactive problem nodes on a game map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competition → Live 1v1 ranked duels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scores with no context → Percentile-based rank tiers (Bronze → Grandmaster)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One-size-fits-all difficulty → Skill-matched opponents via Glicko-2 MMR</a:t>
            </a:r>
            <a:endParaRPr lang="en-US" sz="115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Drop-off after a few weeks → Seasons, streaks, and rank-defense motivation</a:t>
            </a:r>
            <a:endParaRPr lang="en-US" sz="1150" dirty="0"/>
          </a:p>
        </p:txBody>
      </p:sp>
      <p:sp>
        <p:nvSpPr>
          <p:cNvPr id="14" name="Text 6"/>
          <p:cNvSpPr/>
          <p:nvPr/>
        </p:nvSpPr>
        <p:spPr>
          <a:xfrm>
            <a:off x="457200" y="48646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INNOVATIVE?</a:t>
            </a:r>
            <a:endParaRPr lang="en-US" sz="1400" dirty="0"/>
          </a:p>
        </p:txBody>
      </p:sp>
      <p:sp>
        <p:nvSpPr>
          <p:cNvPr id="15" name="Text 7"/>
          <p:cNvSpPr/>
          <p:nvPr/>
        </p:nvSpPr>
        <p:spPr>
          <a:xfrm>
            <a:off x="457200" y="5157216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Glicko-2 MMR matchmaking, an inflation-proof percentile-based leaderboard, and two real-engineering game modes — Debug Duel and 1-Shot Vibecode Duel — that test genuine debugging and planning skill, not just puzzle-solving speed.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termark_building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1965960"/>
            <a:ext cx="12191695" cy="4892040"/>
          </a:xfrm>
          <a:prstGeom prst="rect">
            <a:avLst/>
          </a:prstGeom>
        </p:spPr>
      </p:pic>
      <p:pic>
        <p:nvPicPr>
          <p:cNvPr id="3" name="Image 1" descr="/home/claude/assets/logo_i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2148840" cy="932688"/>
          </a:xfrm>
          <a:prstGeom prst="rect">
            <a:avLst/>
          </a:prstGeom>
        </p:spPr>
      </p:pic>
      <p:pic>
        <p:nvPicPr>
          <p:cNvPr id="4" name="Image 2" descr="/home/claude/assets/logo_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6304"/>
            <a:ext cx="2697480" cy="726948"/>
          </a:xfrm>
          <a:prstGeom prst="rect">
            <a:avLst/>
          </a:prstGeom>
        </p:spPr>
      </p:pic>
      <p:pic>
        <p:nvPicPr>
          <p:cNvPr id="5" name="Image 3" descr="/home/claude/assets/logo_ed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73736"/>
            <a:ext cx="1051560" cy="845820"/>
          </a:xfrm>
          <a:prstGeom prst="rect">
            <a:avLst/>
          </a:prstGeom>
        </p:spPr>
      </p:pic>
      <p:pic>
        <p:nvPicPr>
          <p:cNvPr id="6" name="Image 4" descr="/home/claude/assets/logo_ipr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137160"/>
            <a:ext cx="86868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0" y="105156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INNOHACK 2.0</a:t>
            </a:r>
            <a:endParaRPr lang="en-US" sz="2600" dirty="0"/>
          </a:p>
        </p:txBody>
      </p:sp>
      <p:sp>
        <p:nvSpPr>
          <p:cNvPr id="8" name="Text 1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400" dirty="0"/>
          </a:p>
        </p:txBody>
      </p:sp>
      <p:pic>
        <p:nvPicPr>
          <p:cNvPr id="9" name="Image 5" descr="/home/claude/assets/footer_ic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528816"/>
            <a:ext cx="7589520" cy="3108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TOOLS, TECHNOLOGIES OR COMPONENTS USED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383280"/>
              </a:tblGrid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Desktop Client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 + React + TypeScript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Game Maps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Phaser 3 (2D game engine)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Editor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Monaco Editor (VS Code's editor)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Management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Zustand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NestJS (Node.js, modular monolith)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Realtime Duels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WebSocket (server-authoritative)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Database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+ Redis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Judge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 sandboxed containers (gVisor)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 Sandbox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WASM (offline-capable)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 System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Glicko-2 algorithm (server-side only)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3"/>
          <p:cNvSpPr/>
          <p:nvPr/>
        </p:nvSpPr>
        <p:spPr>
          <a:xfrm>
            <a:off x="5806440" y="2240280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/ ARCHITECTURE DIAGRAM</a:t>
            </a:r>
            <a:endParaRPr lang="en-US" sz="1400" dirty="0"/>
          </a:p>
        </p:txBody>
      </p:sp>
      <p:sp>
        <p:nvSpPr>
          <p:cNvPr id="13" name="Text 4"/>
          <p:cNvSpPr/>
          <p:nvPr/>
        </p:nvSpPr>
        <p:spPr>
          <a:xfrm>
            <a:off x="5806440" y="2560320"/>
            <a:ext cx="58978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 →  Placement Duels (5)  →  Rank Assigned  →  Choose Level (1–5)  →  Explore Map  →  Solve Nodes (Practice)  →  Unlock Ranked Queue  →  Queue Up  →  Matched Opponent Found  →  Choose Mode: Debug / Vibecode Duel  →  Solve → Submit  →  Server Judges  →  Rating Updates  →  Leaderboard Refreshes</a:t>
            </a:r>
            <a:endParaRPr lang="en-US" sz="1000" dirty="0"/>
          </a:p>
        </p:txBody>
      </p:sp>
      <p:sp>
        <p:nvSpPr>
          <p:cNvPr id="14" name="Text 5"/>
          <p:cNvSpPr/>
          <p:nvPr/>
        </p:nvSpPr>
        <p:spPr>
          <a:xfrm>
            <a:off x="5806440" y="4069080"/>
            <a:ext cx="5897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1400" dirty="0"/>
          </a:p>
        </p:txBody>
      </p:sp>
      <p:sp>
        <p:nvSpPr>
          <p:cNvPr id="15" name="Text 6"/>
          <p:cNvSpPr/>
          <p:nvPr/>
        </p:nvSpPr>
        <p:spPr>
          <a:xfrm>
            <a:off x="5806440" y="4389120"/>
            <a:ext cx="5897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333333"/>
                </a:solidFill>
              </a:rPr>
              <a:t>Architecture principle: the server is the sole authority on correctness, timing, and rating — the client is a rich display layer, never a source of truth.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Five themed learning maps — Syntax Sands → Logic Lagoon → Structure Steppes → Algorithm Ascent → Architect's Apex — with server-saved progress and offline browser-sandbox practice.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termark_building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1965960"/>
            <a:ext cx="12191695" cy="4892040"/>
          </a:xfrm>
          <a:prstGeom prst="rect">
            <a:avLst/>
          </a:prstGeom>
        </p:spPr>
      </p:pic>
      <p:pic>
        <p:nvPicPr>
          <p:cNvPr id="3" name="Image 1" descr="/home/claude/assets/logo_i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2148840" cy="932688"/>
          </a:xfrm>
          <a:prstGeom prst="rect">
            <a:avLst/>
          </a:prstGeom>
        </p:spPr>
      </p:pic>
      <p:pic>
        <p:nvPicPr>
          <p:cNvPr id="4" name="Image 2" descr="/home/claude/assets/logo_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6304"/>
            <a:ext cx="2697480" cy="726948"/>
          </a:xfrm>
          <a:prstGeom prst="rect">
            <a:avLst/>
          </a:prstGeom>
        </p:spPr>
      </p:pic>
      <p:pic>
        <p:nvPicPr>
          <p:cNvPr id="5" name="Image 3" descr="/home/claude/assets/logo_ed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73736"/>
            <a:ext cx="1051560" cy="845820"/>
          </a:xfrm>
          <a:prstGeom prst="rect">
            <a:avLst/>
          </a:prstGeom>
        </p:spPr>
      </p:pic>
      <p:pic>
        <p:nvPicPr>
          <p:cNvPr id="6" name="Image 4" descr="/home/claude/assets/logo_ipr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137160"/>
            <a:ext cx="86868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0" y="105156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INNOHACK 2.0</a:t>
            </a:r>
            <a:endParaRPr lang="en-US" sz="2600" dirty="0"/>
          </a:p>
        </p:txBody>
      </p:sp>
      <p:sp>
        <p:nvSpPr>
          <p:cNvPr id="8" name="Text 1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/ PROTOTYPE</a:t>
            </a:r>
            <a:endParaRPr lang="en-US" sz="2400" dirty="0"/>
          </a:p>
        </p:txBody>
      </p:sp>
      <p:pic>
        <p:nvPicPr>
          <p:cNvPr id="9" name="Image 5" descr="/home/claude/assets/footer_ic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528816"/>
            <a:ext cx="7589520" cy="3108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22860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THE WORKING PROTOTYPE (IF AVAILABLE)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457200" y="257860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Codingo desktop client — login screen shown at right (clean green/cream branded UI).</a:t>
            </a:r>
            <a:endParaRPr lang="en-US" sz="1150" dirty="0"/>
          </a:p>
        </p:txBody>
      </p:sp>
      <p:sp>
        <p:nvSpPr>
          <p:cNvPr id="12" name="Text 4"/>
          <p:cNvSpPr/>
          <p:nvPr/>
        </p:nvSpPr>
        <p:spPr>
          <a:xfrm>
            <a:off x="457200" y="317296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OR DEMO VIDEOS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457200" y="34655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attached: Codingo — Login Screen (“Your learning space — Welcome back.”)</a:t>
            </a:r>
            <a:endParaRPr lang="en-US" sz="1150" dirty="0"/>
          </a:p>
        </p:txBody>
      </p:sp>
      <p:sp>
        <p:nvSpPr>
          <p:cNvPr id="14" name="Text 6"/>
          <p:cNvSpPr/>
          <p:nvPr/>
        </p:nvSpPr>
        <p:spPr>
          <a:xfrm>
            <a:off x="457200" y="401421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5" name="Text 7"/>
          <p:cNvSpPr/>
          <p:nvPr/>
        </p:nvSpPr>
        <p:spPr>
          <a:xfrm>
            <a:off x="457200" y="4306824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screen (shown)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map screen (game world node graph)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Duel editor screen (Monaco editor + opponent progress signal)</a:t>
            </a:r>
            <a:endParaRPr lang="en-US" sz="115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screen (rank tiers + percentile display)</a:t>
            </a:r>
            <a:endParaRPr lang="en-US" sz="1150" dirty="0"/>
          </a:p>
        </p:txBody>
      </p:sp>
      <p:pic>
        <p:nvPicPr>
          <p:cNvPr id="16" name="Image 6" descr="/home/claude/assets/codingo_login.jpe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331720"/>
            <a:ext cx="4709160" cy="302666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termark_building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1965960"/>
            <a:ext cx="12191695" cy="4892040"/>
          </a:xfrm>
          <a:prstGeom prst="rect">
            <a:avLst/>
          </a:prstGeom>
        </p:spPr>
      </p:pic>
      <p:pic>
        <p:nvPicPr>
          <p:cNvPr id="3" name="Image 1" descr="/home/claude/assets/logo_i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2148840" cy="932688"/>
          </a:xfrm>
          <a:prstGeom prst="rect">
            <a:avLst/>
          </a:prstGeom>
        </p:spPr>
      </p:pic>
      <p:pic>
        <p:nvPicPr>
          <p:cNvPr id="4" name="Image 2" descr="/home/claude/assets/logo_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6304"/>
            <a:ext cx="2697480" cy="726948"/>
          </a:xfrm>
          <a:prstGeom prst="rect">
            <a:avLst/>
          </a:prstGeom>
        </p:spPr>
      </p:pic>
      <p:pic>
        <p:nvPicPr>
          <p:cNvPr id="5" name="Image 3" descr="/home/claude/assets/logo_ed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73736"/>
            <a:ext cx="1051560" cy="845820"/>
          </a:xfrm>
          <a:prstGeom prst="rect">
            <a:avLst/>
          </a:prstGeom>
        </p:spPr>
      </p:pic>
      <p:pic>
        <p:nvPicPr>
          <p:cNvPr id="6" name="Image 4" descr="/home/claude/assets/logo_ipr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137160"/>
            <a:ext cx="86868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0" y="105156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INNOHACK 2.0</a:t>
            </a:r>
            <a:endParaRPr lang="en-US" sz="2600" dirty="0"/>
          </a:p>
        </p:txBody>
      </p:sp>
      <p:sp>
        <p:nvSpPr>
          <p:cNvPr id="8" name="Text 1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USE CASES</a:t>
            </a:r>
            <a:endParaRPr lang="en-US" sz="2400" dirty="0"/>
          </a:p>
        </p:txBody>
      </p:sp>
      <p:pic>
        <p:nvPicPr>
          <p:cNvPr id="9" name="Image 5" descr="/home/claude/assets/footer_ic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528816"/>
            <a:ext cx="7589520" cy="3108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2240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 FROM YOUR SOLUTION?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8229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F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Codingo helps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F9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School student (Class 10–12)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Starts at Level 1 (Syntax Sands), builds confidence through guided map progression before competition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 college student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Uses ranked duels for exam and placement prep; measurable DSA skill shown via tier 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Career switcher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Structured map with clear prerequisites; offline practice available anytime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Competitive programmer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Ranked ladder, seasonal resets, and Grandmaster-tier challenges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3"/>
          <p:cNvSpPr/>
          <p:nvPr/>
        </p:nvSpPr>
        <p:spPr>
          <a:xfrm>
            <a:off x="457200" y="4160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IT BE APPLIED IN REAL WORLD SCENARIOS?</a:t>
            </a:r>
            <a:endParaRPr lang="en-US" sz="1400" dirty="0"/>
          </a:p>
        </p:txBody>
      </p:sp>
      <p:sp>
        <p:nvSpPr>
          <p:cNvPr id="13" name="Text 4"/>
          <p:cNvSpPr/>
          <p:nvPr/>
        </p:nvSpPr>
        <p:spPr>
          <a:xfrm>
            <a:off x="457200" y="445312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map progression builds confidence for beginners; ranked duels give college students measurable, placement-ready proof of DSA skill; competitive programmers get a ranked ladder with seasonal resets and Grandmaster-tier challenges.</a:t>
            </a:r>
            <a:endParaRPr lang="en-US" sz="1050" dirty="0"/>
          </a:p>
        </p:txBody>
      </p:sp>
      <p:sp>
        <p:nvSpPr>
          <p:cNvPr id="14" name="Text 5"/>
          <p:cNvSpPr/>
          <p:nvPr/>
        </p:nvSpPr>
        <p:spPr>
          <a:xfrm>
            <a:off x="457200" y="500176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/ SUSTAINABILITY</a:t>
            </a:r>
            <a:endParaRPr lang="en-US" sz="1400" dirty="0"/>
          </a:p>
        </p:txBody>
      </p:sp>
      <p:sp>
        <p:nvSpPr>
          <p:cNvPr id="15" name="Text 6"/>
          <p:cNvSpPr/>
          <p:nvPr/>
        </p:nvSpPr>
        <p:spPr>
          <a:xfrm>
            <a:off x="457200" y="5294376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Glicko-2 matchmaking protects retention — students are never crushed by a far stronger opponent — while the inflation-proof percentile leaderboard and offline-capable practice sandbox keep engagement sustainable as the user base grows.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termark_building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1965960"/>
            <a:ext cx="12191695" cy="4892040"/>
          </a:xfrm>
          <a:prstGeom prst="rect">
            <a:avLst/>
          </a:prstGeom>
        </p:spPr>
      </p:pic>
      <p:pic>
        <p:nvPicPr>
          <p:cNvPr id="3" name="Image 1" descr="/home/claude/assets/logo_i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2148840" cy="932688"/>
          </a:xfrm>
          <a:prstGeom prst="rect">
            <a:avLst/>
          </a:prstGeom>
        </p:spPr>
      </p:pic>
      <p:pic>
        <p:nvPicPr>
          <p:cNvPr id="4" name="Image 2" descr="/home/claude/assets/logo_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6304"/>
            <a:ext cx="2697480" cy="726948"/>
          </a:xfrm>
          <a:prstGeom prst="rect">
            <a:avLst/>
          </a:prstGeom>
        </p:spPr>
      </p:pic>
      <p:pic>
        <p:nvPicPr>
          <p:cNvPr id="5" name="Image 3" descr="/home/claude/assets/logo_ed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73736"/>
            <a:ext cx="1051560" cy="845820"/>
          </a:xfrm>
          <a:prstGeom prst="rect">
            <a:avLst/>
          </a:prstGeom>
        </p:spPr>
      </p:pic>
      <p:pic>
        <p:nvPicPr>
          <p:cNvPr id="6" name="Image 4" descr="/home/claude/assets/logo_ipr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137160"/>
            <a:ext cx="86868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0" y="105156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INNOHACK 2.0</a:t>
            </a:r>
            <a:endParaRPr lang="en-US" sz="2600" dirty="0"/>
          </a:p>
        </p:txBody>
      </p:sp>
      <p:sp>
        <p:nvSpPr>
          <p:cNvPr id="8" name="Text 1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2400" dirty="0"/>
          </a:p>
        </p:txBody>
      </p:sp>
      <p:pic>
        <p:nvPicPr>
          <p:cNvPr id="9" name="Image 5" descr="/home/claude/assets/footer_ic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528816"/>
            <a:ext cx="7589520" cy="3108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 OBSTACLES DURING DEVELOPMENT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457200" y="2670048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real-time multiplayer support and ranking leaderboards while maintaining fair matchmaking will be a big challenge for us.</a:t>
            </a:r>
            <a:endParaRPr lang="en-US" sz="1300" dirty="0"/>
          </a:p>
        </p:txBody>
      </p:sp>
      <p:sp>
        <p:nvSpPr>
          <p:cNvPr id="12" name="Text 4"/>
          <p:cNvSpPr/>
          <p:nvPr/>
        </p:nvSpPr>
        <p:spPr>
          <a:xfrm>
            <a:off x="457200" y="349300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PROBLEM-SOLVING ABILITY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457200" y="3785616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Server-authoritative WebSocket architecture keeps every duel's state, timing, and outcome validated on the backend, preventing client-side manipulation in real-time matches.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Glicko-2 rating algorithm pairs players of similar skill and updates ranks after every duel, keeping matchmaking fair as the player base grows.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Matchmaking queue widens progressively over time, balancing fair skill gaps against reasonable wait times.</a:t>
            </a:r>
            <a:endParaRPr lang="en-US" sz="13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Percentile-based leaderboard tiers recompute against the live population, keeping ranks accurate and inflation-proof as more students join.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termark_building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1965960"/>
            <a:ext cx="12191695" cy="4892040"/>
          </a:xfrm>
          <a:prstGeom prst="rect">
            <a:avLst/>
          </a:prstGeom>
        </p:spPr>
      </p:pic>
      <p:pic>
        <p:nvPicPr>
          <p:cNvPr id="3" name="Image 1" descr="/home/claude/assets/logo_i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2148840" cy="932688"/>
          </a:xfrm>
          <a:prstGeom prst="rect">
            <a:avLst/>
          </a:prstGeom>
        </p:spPr>
      </p:pic>
      <p:pic>
        <p:nvPicPr>
          <p:cNvPr id="4" name="Image 2" descr="/home/claude/assets/logo_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6304"/>
            <a:ext cx="2697480" cy="726948"/>
          </a:xfrm>
          <a:prstGeom prst="rect">
            <a:avLst/>
          </a:prstGeom>
        </p:spPr>
      </p:pic>
      <p:pic>
        <p:nvPicPr>
          <p:cNvPr id="5" name="Image 3" descr="/home/claude/assets/logo_ed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73736"/>
            <a:ext cx="1051560" cy="845820"/>
          </a:xfrm>
          <a:prstGeom prst="rect">
            <a:avLst/>
          </a:prstGeom>
        </p:spPr>
      </p:pic>
      <p:pic>
        <p:nvPicPr>
          <p:cNvPr id="6" name="Image 4" descr="/home/claude/assets/logo_ipr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137160"/>
            <a:ext cx="86868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0" y="105156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INNOHACK 2.0</a:t>
            </a:r>
            <a:endParaRPr lang="en-US" sz="2600" dirty="0"/>
          </a:p>
        </p:txBody>
      </p:sp>
      <p:sp>
        <p:nvSpPr>
          <p:cNvPr id="8" name="Text 1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400" dirty="0"/>
          </a:p>
        </p:txBody>
      </p:sp>
      <p:pic>
        <p:nvPicPr>
          <p:cNvPr id="9" name="Image 5" descr="/home/claude/assets/footer_ic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528816"/>
            <a:ext cx="7589520" cy="3108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2331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SCALABILITY (DEVELOPMENT BASED)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457200" y="2624328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battles (3v3, FFA modes)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client (iOS/Android)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tournament brackets with spectating</a:t>
            </a:r>
            <a:endParaRPr lang="en-US" sz="13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hint system for stuck learners (non-duel mode only)</a:t>
            </a:r>
            <a:endParaRPr lang="en-US" sz="1300" dirty="0"/>
          </a:p>
        </p:txBody>
      </p:sp>
      <p:sp>
        <p:nvSpPr>
          <p:cNvPr id="12" name="Text 4"/>
          <p:cNvSpPr/>
          <p:nvPr/>
        </p:nvSpPr>
        <p:spPr>
          <a:xfrm>
            <a:off x="457200" y="385876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– TERM VISION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457200" y="4151376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problem marketplace — educators author problems, students solve them</a:t>
            </a:r>
            <a:endParaRPr lang="en-US" sz="1300" dirty="0"/>
          </a:p>
          <a:p>
            <a:pPr marL="342900" indent="-342900">
              <a:lnSpc>
                <a:spcPct val="1020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dashboards — schools/colleges track student progress cohort-wide</a:t>
            </a:r>
            <a:endParaRPr lang="en-US" sz="1300" dirty="0"/>
          </a:p>
          <a:p>
            <a:pPr marL="342900" indent="-342900">
              <a:lnSpc>
                <a:spcPct val="10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 rewards — avatars, map skins, and profile badges to reinforce identity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termark_building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1965960"/>
            <a:ext cx="12191695" cy="4892040"/>
          </a:xfrm>
          <a:prstGeom prst="rect">
            <a:avLst/>
          </a:prstGeom>
        </p:spPr>
      </p:pic>
      <p:pic>
        <p:nvPicPr>
          <p:cNvPr id="3" name="Image 1" descr="/home/claude/assets/logo_i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2148840" cy="932688"/>
          </a:xfrm>
          <a:prstGeom prst="rect">
            <a:avLst/>
          </a:prstGeom>
        </p:spPr>
      </p:pic>
      <p:pic>
        <p:nvPicPr>
          <p:cNvPr id="4" name="Image 2" descr="/home/claude/assets/logo_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6304"/>
            <a:ext cx="2697480" cy="726948"/>
          </a:xfrm>
          <a:prstGeom prst="rect">
            <a:avLst/>
          </a:prstGeom>
        </p:spPr>
      </p:pic>
      <p:pic>
        <p:nvPicPr>
          <p:cNvPr id="5" name="Image 3" descr="/home/claude/assets/logo_ed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73736"/>
            <a:ext cx="1051560" cy="845820"/>
          </a:xfrm>
          <a:prstGeom prst="rect">
            <a:avLst/>
          </a:prstGeom>
        </p:spPr>
      </p:pic>
      <p:pic>
        <p:nvPicPr>
          <p:cNvPr id="6" name="Image 4" descr="/home/claude/assets/logo_ipr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137160"/>
            <a:ext cx="86868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0" y="105156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INNOHACK 2.0</a:t>
            </a:r>
            <a:endParaRPr lang="en-US" sz="2600" dirty="0"/>
          </a:p>
        </p:txBody>
      </p:sp>
      <p:sp>
        <p:nvSpPr>
          <p:cNvPr id="8" name="Text 1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pic>
        <p:nvPicPr>
          <p:cNvPr id="9" name="Image 5" descr="/home/claude/assets/footer_ic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528816"/>
            <a:ext cx="7589520" cy="3108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THE SOLUTION</a:t>
            </a:r>
            <a:endParaRPr lang="en-US" sz="1400" dirty="0"/>
          </a:p>
        </p:txBody>
      </p:sp>
      <p:sp>
        <p:nvSpPr>
          <p:cNvPr id="11" name="Text 3"/>
          <p:cNvSpPr/>
          <p:nvPr/>
        </p:nvSpPr>
        <p:spPr>
          <a:xfrm>
            <a:off x="457200" y="2670048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Codingo turns coding education into a competitive game — ranked duels, skill-matched opponents, and a live leaderboard replace passive video lessons, giving students visible progress and the motivation to keep going.</a:t>
            </a:r>
            <a:endParaRPr lang="en-US" sz="1300" dirty="0"/>
          </a:p>
        </p:txBody>
      </p:sp>
      <p:sp>
        <p:nvSpPr>
          <p:cNvPr id="12" name="Text 4"/>
          <p:cNvSpPr/>
          <p:nvPr/>
        </p:nvSpPr>
        <p:spPr>
          <a:xfrm>
            <a:off x="457200" y="367588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400" dirty="0"/>
          </a:p>
        </p:txBody>
      </p:sp>
      <p:sp>
        <p:nvSpPr>
          <p:cNvPr id="13" name="Text 5"/>
          <p:cNvSpPr/>
          <p:nvPr/>
        </p:nvSpPr>
        <p:spPr>
          <a:xfrm>
            <a:off x="457200" y="3968496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Glicko-2 MMR matchmaking, an inflation-proof percentile leaderboard, and real-world skill modes — Debug Duels and 1-Shot Vibecode Duels — set Codingo apart from conventional, passive EdTech platforms.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watermark_building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rcRect l="0" r="0" t="0" b="0"/>
          <a:stretch/>
        </p:blipFill>
        <p:spPr>
          <a:xfrm>
            <a:off x="0" y="1965960"/>
            <a:ext cx="12191695" cy="4892040"/>
          </a:xfrm>
          <a:prstGeom prst="rect">
            <a:avLst/>
          </a:prstGeom>
        </p:spPr>
      </p:pic>
      <p:pic>
        <p:nvPicPr>
          <p:cNvPr id="3" name="Image 1" descr="/home/claude/assets/logo_i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09728"/>
            <a:ext cx="2148840" cy="932688"/>
          </a:xfrm>
          <a:prstGeom prst="rect">
            <a:avLst/>
          </a:prstGeom>
        </p:spPr>
      </p:pic>
      <p:pic>
        <p:nvPicPr>
          <p:cNvPr id="4" name="Image 2" descr="/home/claude/assets/logo_v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46304"/>
            <a:ext cx="2697480" cy="726948"/>
          </a:xfrm>
          <a:prstGeom prst="rect">
            <a:avLst/>
          </a:prstGeom>
        </p:spPr>
      </p:pic>
      <p:pic>
        <p:nvPicPr>
          <p:cNvPr id="5" name="Image 3" descr="/home/claude/assets/logo_ed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173736"/>
            <a:ext cx="1051560" cy="845820"/>
          </a:xfrm>
          <a:prstGeom prst="rect">
            <a:avLst/>
          </a:prstGeom>
        </p:spPr>
      </p:pic>
      <p:pic>
        <p:nvPicPr>
          <p:cNvPr id="6" name="Image 4" descr="/home/claude/assets/logo_iprt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2" y="137160"/>
            <a:ext cx="868680" cy="8686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114800" y="1051560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INNOHACK 2.0</a:t>
            </a:r>
            <a:endParaRPr lang="en-US" sz="2600" dirty="0"/>
          </a:p>
        </p:txBody>
      </p:sp>
      <p:sp>
        <p:nvSpPr>
          <p:cNvPr id="8" name="Text 1"/>
          <p:cNvSpPr/>
          <p:nvPr/>
        </p:nvSpPr>
        <p:spPr>
          <a:xfrm>
            <a:off x="457200" y="1664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2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ACKNOWLEDGEMENTS</a:t>
            </a:r>
            <a:endParaRPr lang="en-US" sz="2400" dirty="0"/>
          </a:p>
        </p:txBody>
      </p:sp>
      <p:pic>
        <p:nvPicPr>
          <p:cNvPr id="9" name="Image 5" descr="/home/claude/assets/footer_ic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0" y="6528816"/>
            <a:ext cx="7589520" cy="310896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TEAM MEMBERS, REFERENCES AND MENTORS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5852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F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F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Sakcham Pasari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25BCE2257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Daksh Sabarwal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25BCE2318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Suvansh Choudhary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25BAI0252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3"/>
          <p:cNvSpPr/>
          <p:nvPr/>
        </p:nvSpPr>
        <p:spPr>
          <a:xfrm>
            <a:off x="4572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Name: Cockroach Tech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2026-08-20T11:21:09Z</dcterms:created>
  <dcterms:modified xsi:type="dcterms:W3CDTF">2026-08-20T11:21:09Z</dcterms:modified>
</cp:coreProperties>
</file>